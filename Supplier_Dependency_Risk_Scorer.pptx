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731520"/>
            <a:ext cx="502920" cy="502920"/>
          </a:xfrm>
          <a:prstGeom prst="ellipse">
            <a:avLst/>
          </a:prstGeom>
          <a:solidFill>
            <a:srgbClr val="00857C">
              <a:alpha val="45000"/>
            </a:srgbClr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38160" y="1463040"/>
            <a:ext cx="347472" cy="347472"/>
          </a:xfrm>
          <a:prstGeom prst="ellipse">
            <a:avLst/>
          </a:prstGeom>
          <a:solidFill>
            <a:srgbClr val="00857C">
              <a:alpha val="45000"/>
            </a:srgbClr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0" y="1828800"/>
            <a:ext cx="292608" cy="292608"/>
          </a:xfrm>
          <a:prstGeom prst="ellipse">
            <a:avLst/>
          </a:prstGeom>
          <a:solidFill>
            <a:srgbClr val="00857C">
              <a:alpha val="45000"/>
            </a:srgbClr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0" y="457200"/>
            <a:ext cx="256032" cy="256032"/>
          </a:xfrm>
          <a:prstGeom prst="ellipse">
            <a:avLst/>
          </a:prstGeom>
          <a:solidFill>
            <a:srgbClr val="00857C">
              <a:alpha val="45000"/>
            </a:srgbClr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0" y="822960"/>
            <a:ext cx="201168" cy="201168"/>
          </a:xfrm>
          <a:prstGeom prst="ellipse">
            <a:avLst/>
          </a:prstGeom>
          <a:solidFill>
            <a:srgbClr val="00857C">
              <a:alpha val="45000"/>
            </a:srgbClr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78040" y="987552"/>
            <a:ext cx="978408" cy="0"/>
          </a:xfrm>
          <a:prstGeom prst="line">
            <a:avLst/>
          </a:prstGeom>
          <a:noFill/>
          <a:ln w="12700">
            <a:solidFill>
              <a:srgbClr val="00A896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6876288" y="1975104"/>
            <a:ext cx="822960" cy="0"/>
          </a:xfrm>
          <a:prstGeom prst="line">
            <a:avLst/>
          </a:prstGeom>
          <a:noFill/>
          <a:ln w="12700">
            <a:solidFill>
              <a:srgbClr val="00A896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457200" y="100584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Dependency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57200" y="173736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Scorer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457200" y="260604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 Supply Chain Intelligence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090672"/>
            <a:ext cx="5029200" cy="36576"/>
          </a:xfrm>
          <a:prstGeom prst="rect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29184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Pavithra V  </a:t>
            </a:r>
            <a:pPr indent="0" marL="0">
              <a:buNone/>
            </a:pPr>
            <a:r>
              <a:rPr lang="en-US" sz="13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Data Analyst &amp; Software Engineer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703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SQL  ·  Power BI  |  pavisumi1408@gmail.com  |  github.com/pavi14-06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🧬  Protecting Patient Access Through Supply Chain Intelligence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868680"/>
            <a:ext cx="4206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868680"/>
            <a:ext cx="566928" cy="65836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996696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923544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1216152"/>
            <a:ext cx="3438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pharma supply chains are critically exposed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6032" y="1673352"/>
            <a:ext cx="4206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673352"/>
            <a:ext cx="566928" cy="65836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1801368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1728216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2020824"/>
            <a:ext cx="3438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does and how it helps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56032" y="2478024"/>
            <a:ext cx="4206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6032" y="2478024"/>
            <a:ext cx="566928" cy="65836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2606040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2532888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Tech Stack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2825496"/>
            <a:ext cx="3438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design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56032" y="3282696"/>
            <a:ext cx="4206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6032" y="3282696"/>
            <a:ext cx="566928" cy="65836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" y="3410712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3337560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Database Schema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3630168"/>
            <a:ext cx="3438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3-table normalised relational design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56032" y="4087368"/>
            <a:ext cx="4206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56032" y="4087368"/>
            <a:ext cx="566928" cy="65836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4215384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14400" y="4142232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 Model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14400" y="4434840"/>
            <a:ext cx="3438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7-factor weighted methodology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36592" y="868680"/>
            <a:ext cx="4206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36592" y="868680"/>
            <a:ext cx="566928" cy="65836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36592" y="996696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94960" y="923544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 Library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94960" y="1216152"/>
            <a:ext cx="3438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production-ready analytical queries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36592" y="1673352"/>
            <a:ext cx="4206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36592" y="1673352"/>
            <a:ext cx="566928" cy="65836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36592" y="1801368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394960" y="1728216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394960" y="2020824"/>
            <a:ext cx="3438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scores, watchlist &amp; KPIs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36592" y="2478024"/>
            <a:ext cx="4206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36592" y="2478024"/>
            <a:ext cx="566928" cy="65836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36592" y="2606040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394960" y="2532888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Integration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394960" y="2825496"/>
            <a:ext cx="3438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sheets and DAX measures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736592" y="3282696"/>
            <a:ext cx="4206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736592" y="3282696"/>
            <a:ext cx="566928" cy="65836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36592" y="3410712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394960" y="3337560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Extensions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394960" y="3630168"/>
            <a:ext cx="3438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scales to production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736592" y="4087368"/>
            <a:ext cx="4206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736592" y="4087368"/>
            <a:ext cx="566928" cy="65836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36592" y="4215384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5394960" y="4142232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394960" y="4434840"/>
            <a:ext cx="3438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&amp; project summary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4320" y="4892040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Pavithra V  |  Supplier Dependency Risk Scorer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— Why This Matters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26517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14400"/>
            <a:ext cx="265176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0584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75488" y="1664208"/>
            <a:ext cx="2432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pharma APIs sourced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China &amp; India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914400"/>
            <a:ext cx="26517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914400"/>
            <a:ext cx="2651760" cy="6400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00584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6x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401568" y="1664208"/>
            <a:ext cx="2432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likely to face disruption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sole-source suppliers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914400"/>
            <a:ext cx="26517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914400"/>
            <a:ext cx="2651760" cy="64008"/>
          </a:xfrm>
          <a:prstGeom prst="rect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00584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$1B+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6327648" y="1664208"/>
            <a:ext cx="2432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cost of a major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 supply disruption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260604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Risk Gaps Pharma Analysts Face: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2999232"/>
            <a:ext cx="8229600" cy="1664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scoring system to compare supplier risk across geographies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Sole-source dependencies on API suppliers go undetected until a disruption occurs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concentration (India/China) creates systemic single-point-of-failure risks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gaps and audit-overdue suppliers are managed reactively, not proactively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lack a data model that ties spend exposure directly to dependency risk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892040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Pavithra V  |  Supplier Dependency Risk Scorer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 — What This Project Does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896112"/>
            <a:ext cx="2706624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896112"/>
            <a:ext cx="2706624" cy="64008"/>
          </a:xfrm>
          <a:prstGeom prst="rect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03327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96112" y="1060704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" y="1517904"/>
            <a:ext cx="2523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ERP/CSV supply chain records for 10 pharma suppliers across 7 countries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63824" y="896112"/>
            <a:ext cx="2706624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63824" y="896112"/>
            <a:ext cx="2706624" cy="6400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55264" y="103327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803904" y="1060704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55264" y="1517904"/>
            <a:ext cx="2523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Normalised SQLite schema — 3 tables, 6 analytical queries, fully joinable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71616" y="896112"/>
            <a:ext cx="2706624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71616" y="896112"/>
            <a:ext cx="2706624" cy="64008"/>
          </a:xfrm>
          <a:prstGeom prst="rect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63056" y="103327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711696" y="1060704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63056" y="1517904"/>
            <a:ext cx="2523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7-factor weighted risk engine produces a 0–100 composite score per supplier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6032" y="2816352"/>
            <a:ext cx="2706624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6032" y="2816352"/>
            <a:ext cx="2706624" cy="6400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295351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896112" y="2980944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7472" y="3438144"/>
            <a:ext cx="2523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Auto-assigns CRITICAL / HIGH / MEDIUM / LOW risk tiers with business logic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163824" y="2816352"/>
            <a:ext cx="2706624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63824" y="2816352"/>
            <a:ext cx="2706624" cy="64008"/>
          </a:xfrm>
          <a:prstGeom prst="rect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55264" y="295351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3803904" y="2980944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255264" y="3438144"/>
            <a:ext cx="2523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4-sheet Power BI–ready Excel + automated 4-panel analytical chart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71616" y="2816352"/>
            <a:ext cx="2706624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71616" y="2816352"/>
            <a:ext cx="2706624" cy="6400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63056" y="295351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6711696" y="2980944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163056" y="3438144"/>
            <a:ext cx="2523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sole-source materials, compliance gaps, and audit-overdue suppliers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892040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Pavithra V  |  Supplier Dependency Risk Scorer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— End-to-End Pipeline &amp; Tech Stack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157276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1572768" cy="73152"/>
          </a:xfrm>
          <a:prstGeom prst="rect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1115568"/>
            <a:ext cx="548640" cy="548640"/>
          </a:xfrm>
          <a:prstGeom prst="ellipse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1143000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9184" y="17373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7472" y="2157984"/>
            <a:ext cx="142646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/ CSV records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via Python Pandas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847088" y="192024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993392" y="960120"/>
            <a:ext cx="157276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993392" y="960120"/>
            <a:ext cx="1572768" cy="7315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05456" y="1115568"/>
            <a:ext cx="548640" cy="548640"/>
          </a:xfrm>
          <a:prstGeom prst="ellipse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05456" y="1143000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048256" y="17373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Database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066544" y="2157984"/>
            <a:ext cx="142646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Normalised schema: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tables, FK relations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566160" y="192024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712464" y="960120"/>
            <a:ext cx="157276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712464" y="960120"/>
            <a:ext cx="1572768" cy="73152"/>
          </a:xfrm>
          <a:prstGeom prst="rect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24528" y="1115568"/>
            <a:ext cx="548640" cy="548640"/>
          </a:xfrm>
          <a:prstGeom prst="ellipse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24528" y="1143000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767328" y="17373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Engine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785616" y="2157984"/>
            <a:ext cx="142646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7-factor weighted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(0–100)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285232" y="192024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31536" y="960120"/>
            <a:ext cx="157276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31536" y="960120"/>
            <a:ext cx="1572768" cy="7315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0" y="1115568"/>
            <a:ext cx="548640" cy="548640"/>
          </a:xfrm>
          <a:prstGeom prst="ellipse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0" y="1143000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86400" y="17373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Classification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504688" y="2157984"/>
            <a:ext cx="142646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CRITICAL /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/ MEDIUM / LOW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004304" y="192024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150608" y="960120"/>
            <a:ext cx="157276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150608" y="960120"/>
            <a:ext cx="1572768" cy="73152"/>
          </a:xfrm>
          <a:prstGeom prst="rect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662672" y="1115568"/>
            <a:ext cx="548640" cy="548640"/>
          </a:xfrm>
          <a:prstGeom prst="ellipse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62672" y="1143000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205472" y="17373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Export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223760" y="2157984"/>
            <a:ext cx="142646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4-sheet Excel +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charts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74320" y="3520440"/>
            <a:ext cx="8595360" cy="5486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365760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74320" y="4041648"/>
            <a:ext cx="1325880" cy="38404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274320" y="4059936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Python 3.10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1719072" y="4041648"/>
            <a:ext cx="1325880" cy="38404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1719072" y="4059936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 SQLite / SQL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163824" y="4041648"/>
            <a:ext cx="1325880" cy="38404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3163824" y="4059936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Power BI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608576" y="4041648"/>
            <a:ext cx="1325880" cy="38404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4608576" y="4059936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Pandas · NumPy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053328" y="4041648"/>
            <a:ext cx="1325880" cy="38404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6053328" y="4059936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Matplotlib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7498080" y="4041648"/>
            <a:ext cx="1325880" cy="38404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7498080" y="4059936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OpenPyXL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74320" y="4892040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Pavithra V  |  Supplier Dependency Risk Scorer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Database Schema — 3-Table Normalised Design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896112"/>
            <a:ext cx="2743200" cy="2322576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896112"/>
            <a:ext cx="2743200" cy="457200"/>
          </a:xfrm>
          <a:prstGeom prst="rect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9326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supplier_master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9184" y="1417320"/>
            <a:ext cx="2596896" cy="347472"/>
          </a:xfrm>
          <a:prstGeom prst="rect">
            <a:avLst/>
          </a:prstGeom>
          <a:solidFill>
            <a:srgbClr val="F0FDF4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" y="14630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supplier_id  PK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9184" y="1819656"/>
            <a:ext cx="2596896" cy="347472"/>
          </a:xfrm>
          <a:prstGeom prst="rect">
            <a:avLst/>
          </a:prstGeom>
          <a:solidFill>
            <a:srgbClr val="F4F6F9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" y="186537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supplier_name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9184" y="2221992"/>
            <a:ext cx="2596896" cy="347472"/>
          </a:xfrm>
          <a:prstGeom prst="rect">
            <a:avLst/>
          </a:prstGeom>
          <a:solidFill>
            <a:srgbClr val="F4F6F9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" y="22677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country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9184" y="2624328"/>
            <a:ext cx="2596896" cy="347472"/>
          </a:xfrm>
          <a:prstGeom prst="rect">
            <a:avLst/>
          </a:prstGeom>
          <a:solidFill>
            <a:srgbClr val="F4F6F9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336" y="26700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18688" y="896112"/>
            <a:ext cx="2743200" cy="568756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18688" y="896112"/>
            <a:ext cx="2743200" cy="4572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10128" y="9326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supply_chain_records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91840" y="1417320"/>
            <a:ext cx="2596896" cy="347472"/>
          </a:xfrm>
          <a:prstGeom prst="rect">
            <a:avLst/>
          </a:prstGeom>
          <a:solidFill>
            <a:srgbClr val="F0FDF4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64992" y="14630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 PK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91840" y="1819656"/>
            <a:ext cx="2596896" cy="347472"/>
          </a:xfrm>
          <a:prstGeom prst="rect">
            <a:avLst/>
          </a:prstGeom>
          <a:solidFill>
            <a:srgbClr val="FEF3C7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64992" y="186537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supplier_id  FK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91840" y="2221992"/>
            <a:ext cx="2596896" cy="347472"/>
          </a:xfrm>
          <a:prstGeom prst="rect">
            <a:avLst/>
          </a:prstGeom>
          <a:solidFill>
            <a:srgbClr val="F4F6F9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64992" y="22677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material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91840" y="2624328"/>
            <a:ext cx="2596896" cy="347472"/>
          </a:xfrm>
          <a:prstGeom prst="rect">
            <a:avLst/>
          </a:prstGeom>
          <a:solidFill>
            <a:srgbClr val="F4F6F9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64992" y="26700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annual_spend_usd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91840" y="3026664"/>
            <a:ext cx="2596896" cy="347472"/>
          </a:xfrm>
          <a:prstGeom prst="rect">
            <a:avLst/>
          </a:prstGeom>
          <a:solidFill>
            <a:srgbClr val="F4F6F9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64992" y="307238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lead_time_days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91840" y="3429000"/>
            <a:ext cx="2596896" cy="347472"/>
          </a:xfrm>
          <a:prstGeom prst="rect">
            <a:avLst/>
          </a:prstGeom>
          <a:solidFill>
            <a:srgbClr val="F4F6F9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64992" y="34747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on_time_delivery_pct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91840" y="3831336"/>
            <a:ext cx="2596896" cy="347472"/>
          </a:xfrm>
          <a:prstGeom prst="rect">
            <a:avLst/>
          </a:prstGeom>
          <a:solidFill>
            <a:srgbClr val="F4F6F9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64992" y="387705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quality_reject_pct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91840" y="4233672"/>
            <a:ext cx="2596896" cy="347472"/>
          </a:xfrm>
          <a:prstGeom prst="rect">
            <a:avLst/>
          </a:prstGeom>
          <a:solidFill>
            <a:srgbClr val="F4F6F9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64992" y="42793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sole_source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91840" y="4636008"/>
            <a:ext cx="2596896" cy="347472"/>
          </a:xfrm>
          <a:prstGeom prst="rect">
            <a:avLst/>
          </a:prstGeom>
          <a:solidFill>
            <a:srgbClr val="F4F6F9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64992" y="46817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geo_risk_score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291840" y="5038344"/>
            <a:ext cx="2596896" cy="347472"/>
          </a:xfrm>
          <a:prstGeom prst="rect">
            <a:avLst/>
          </a:prstGeom>
          <a:solidFill>
            <a:srgbClr val="F4F6F9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64992" y="508406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regulatory_compliance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291840" y="5440680"/>
            <a:ext cx="2596896" cy="347472"/>
          </a:xfrm>
          <a:prstGeom prst="rect">
            <a:avLst/>
          </a:prstGeom>
          <a:solidFill>
            <a:srgbClr val="F4F6F9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64992" y="54864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last_audit_days_ago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291840" y="5843016"/>
            <a:ext cx="2596896" cy="347472"/>
          </a:xfrm>
          <a:prstGeom prst="rect">
            <a:avLst/>
          </a:prstGeom>
          <a:solidFill>
            <a:srgbClr val="F4F6F9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64992" y="588873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disruption_incidents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181344" y="896112"/>
            <a:ext cx="2743200" cy="358444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181344" y="896112"/>
            <a:ext cx="2743200" cy="457200"/>
          </a:xfrm>
          <a:prstGeom prst="rect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72784" y="9326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risk_scores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6254496" y="1417320"/>
            <a:ext cx="2596896" cy="347472"/>
          </a:xfrm>
          <a:prstGeom prst="rect">
            <a:avLst/>
          </a:prstGeom>
          <a:solidFill>
            <a:srgbClr val="F0FDF4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27648" y="14630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 PK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254496" y="1819656"/>
            <a:ext cx="2596896" cy="347472"/>
          </a:xfrm>
          <a:prstGeom prst="rect">
            <a:avLst/>
          </a:prstGeom>
          <a:solidFill>
            <a:srgbClr val="FEF3C7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27648" y="186537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supplier_id  FK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254496" y="2221992"/>
            <a:ext cx="2596896" cy="347472"/>
          </a:xfrm>
          <a:prstGeom prst="rect">
            <a:avLst/>
          </a:prstGeom>
          <a:solidFill>
            <a:srgbClr val="F4F6F9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27648" y="22677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supplier_name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254496" y="2624328"/>
            <a:ext cx="2596896" cy="347472"/>
          </a:xfrm>
          <a:prstGeom prst="rect">
            <a:avLst/>
          </a:prstGeom>
          <a:solidFill>
            <a:srgbClr val="F4F6F9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27648" y="26700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country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254496" y="3026664"/>
            <a:ext cx="2596896" cy="347472"/>
          </a:xfrm>
          <a:prstGeom prst="rect">
            <a:avLst/>
          </a:prstGeom>
          <a:solidFill>
            <a:srgbClr val="F4F6F9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27648" y="307238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composite_score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254496" y="3429000"/>
            <a:ext cx="2596896" cy="347472"/>
          </a:xfrm>
          <a:prstGeom prst="rect">
            <a:avLst/>
          </a:prstGeom>
          <a:solidFill>
            <a:srgbClr val="F4F6F9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327648" y="34747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risk_tier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6254496" y="3831336"/>
            <a:ext cx="2596896" cy="347472"/>
          </a:xfrm>
          <a:prstGeom prst="rect">
            <a:avLst/>
          </a:prstGeom>
          <a:solidFill>
            <a:srgbClr val="F4F6F9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27648" y="387705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scored_on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274320" y="4663440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PK = Primary Key    🔗 FK = Foreign Key → links to supplier_master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74320" y="4892040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Pavithra V  |  Supplier Dependency Risk Scorer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Multi-Factor Risk Scoring Model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96112"/>
            <a:ext cx="859536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4183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 Source Dependency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834640" y="1051560"/>
            <a:ext cx="3474720" cy="18288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34640" y="1051560"/>
            <a:ext cx="1042416" cy="182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987552"/>
            <a:ext cx="64008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99669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132320" y="969264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supplier per material = maximum risk exposure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1463040"/>
            <a:ext cx="8595360" cy="475488"/>
          </a:xfrm>
          <a:prstGeom prst="rect">
            <a:avLst/>
          </a:prstGeom>
          <a:solidFill>
            <a:srgbClr val="F4F6F9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5087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Geopolitical Risk Score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834640" y="1618488"/>
            <a:ext cx="3474720" cy="18288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34640" y="1618488"/>
            <a:ext cx="694944" cy="1828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1554480"/>
            <a:ext cx="640080" cy="29260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156362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32320" y="1536192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stability index (1–10 scale)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2029968"/>
            <a:ext cx="859536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07568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 Risk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834640" y="2185416"/>
            <a:ext cx="3474720" cy="18288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34640" y="2185416"/>
            <a:ext cx="521208" cy="182880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0" y="2121408"/>
            <a:ext cx="640080" cy="292608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21305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132320" y="210312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lead times = greater supply exposure window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74320" y="2596896"/>
            <a:ext cx="8595360" cy="475488"/>
          </a:xfrm>
          <a:prstGeom prst="rect">
            <a:avLst/>
          </a:prstGeom>
          <a:solidFill>
            <a:srgbClr val="F4F6F9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264261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Performance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834640" y="2752344"/>
            <a:ext cx="3474720" cy="18288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834640" y="2752344"/>
            <a:ext cx="521208" cy="182880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0" y="2688336"/>
            <a:ext cx="640080" cy="292608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26974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132320" y="2670048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on-time % = operational dependency risk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74320" y="3163824"/>
            <a:ext cx="859536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320954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Rejection Rate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834640" y="3319272"/>
            <a:ext cx="3474720" cy="18288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34640" y="3319272"/>
            <a:ext cx="347472" cy="182880"/>
          </a:xfrm>
          <a:prstGeom prst="rect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0" y="3255264"/>
            <a:ext cx="640080" cy="292608"/>
          </a:xfrm>
          <a:prstGeom prst="rect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0" y="326440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132320" y="3236976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reject % = reliance on supplier quality controls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74320" y="3730752"/>
            <a:ext cx="8595360" cy="475488"/>
          </a:xfrm>
          <a:prstGeom prst="rect">
            <a:avLst/>
          </a:prstGeom>
          <a:solidFill>
            <a:srgbClr val="F4F6F9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" y="37764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Recency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834640" y="3886200"/>
            <a:ext cx="3474720" cy="18288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834640" y="3886200"/>
            <a:ext cx="173736" cy="182880"/>
          </a:xfrm>
          <a:prstGeom prst="rect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400800" y="3822192"/>
            <a:ext cx="640080" cy="292608"/>
          </a:xfrm>
          <a:prstGeom prst="rect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0" y="383133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132320" y="3803904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 audits create undetected compliance gaps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74320" y="4297680"/>
            <a:ext cx="859536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1480" y="43434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Disruption History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2834640" y="4453128"/>
            <a:ext cx="3474720" cy="18288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834640" y="4453128"/>
            <a:ext cx="173736" cy="182880"/>
          </a:xfrm>
          <a:prstGeom prst="rect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400800" y="4389120"/>
            <a:ext cx="640080" cy="292608"/>
          </a:xfrm>
          <a:prstGeom prst="rect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00800" y="43982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7132320" y="4370832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incidents are leading indicators of future risk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5943600" y="4681728"/>
            <a:ext cx="2926080" cy="329184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5943600" y="469087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Score = 0 to 100  |  Higher = More Risk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74320" y="4892040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Pavithra V  |  Supplier Dependency Risk Scorer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 Library — 6 Production Analytical Queries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914400"/>
            <a:ext cx="420624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914400"/>
            <a:ext cx="621792" cy="1170432"/>
          </a:xfrm>
          <a:prstGeom prst="rect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225296"/>
            <a:ext cx="6217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9264" y="1005840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Supplier Risk Dashboard View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9264" y="1389888"/>
            <a:ext cx="3401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JOIN across all 3 tables — primary Power BI data source with all KPI fields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6032" y="2267712"/>
            <a:ext cx="420624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2267712"/>
            <a:ext cx="621792" cy="117043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2578608"/>
            <a:ext cx="6217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9264" y="2359152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Country-Level Dependency Analysis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9264" y="2743200"/>
            <a:ext cx="3401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risk by country, calculates spend concentration % and dependency alert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56032" y="3621024"/>
            <a:ext cx="420624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6032" y="3621024"/>
            <a:ext cx="621792" cy="1170432"/>
          </a:xfrm>
          <a:prstGeom prst="rect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3931920"/>
            <a:ext cx="6217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9264" y="3712464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Sole-Source Critical Materials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9264" y="4096512"/>
            <a:ext cx="3401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APIs with only one supplier — flags single-source vs multi-sourced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36592" y="914400"/>
            <a:ext cx="420624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36592" y="914400"/>
            <a:ext cx="621792" cy="117043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36592" y="1225296"/>
            <a:ext cx="6217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49824" y="1005840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Supplier Watchlist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49824" y="1389888"/>
            <a:ext cx="3401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suppliers crossing score ≥ 40, shows disruption history and compliance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36592" y="2267712"/>
            <a:ext cx="420624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36592" y="2267712"/>
            <a:ext cx="621792" cy="1170432"/>
          </a:xfrm>
          <a:prstGeom prst="rect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36592" y="2578608"/>
            <a:ext cx="6217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49824" y="2359152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Compliance Gap Report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49824" y="2743200"/>
            <a:ext cx="3401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non-compliant and audit-overdue suppliers with at-risk spend exposure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36592" y="3621024"/>
            <a:ext cx="420624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36592" y="3621024"/>
            <a:ext cx="621792" cy="117043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36592" y="3931920"/>
            <a:ext cx="6217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449824" y="3712464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Spend-Risk Concentration Index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49824" y="4096512"/>
            <a:ext cx="3401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a spend × risk index to identify the most strategically dangerous suppliers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892040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Pavithra V  |  Supplier Dependency Risk Scorer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— Risk Intelligence Output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96112"/>
            <a:ext cx="20116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96112"/>
            <a:ext cx="201168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47472" y="1591056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Suppliers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7472" y="1920240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≥ 60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50592" y="896112"/>
            <a:ext cx="20116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50592" y="896112"/>
            <a:ext cx="2011680" cy="6400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42032" y="100584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2523744" y="1591056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 Suppliers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23744" y="1920240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40–59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26864" y="896112"/>
            <a:ext cx="20116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896112"/>
            <a:ext cx="2011680" cy="64008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18304" y="100584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54.6%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4700016" y="1591056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Spend Concentration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00016" y="1920240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suppliers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03136" y="896112"/>
            <a:ext cx="20116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03136" y="896112"/>
            <a:ext cx="2011680" cy="64008"/>
          </a:xfrm>
          <a:prstGeom prst="rect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94576" y="100584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6876288" y="1591056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Sole-Source Materials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76288" y="1920240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backup supplier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74320" y="237744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Critical Supplier Watchlist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761488"/>
          <a:ext cx="8595360" cy="1847088"/>
        </p:xfrm>
        <a:graphic>
          <a:graphicData uri="http://schemas.openxmlformats.org/drawingml/2006/table">
            <a:tbl>
              <a:tblPr/>
              <a:tblGrid>
                <a:gridCol w="2560320"/>
                <a:gridCol w="1280160"/>
                <a:gridCol w="1097280"/>
                <a:gridCol w="1371600"/>
                <a:gridCol w="13716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Score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Spend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BASF Pharma Chemicals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Germany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67.71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CRITICAL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$20.4M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SunPharma API Ltd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63.62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CRITICAL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$14.9M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Divi's Laboratories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59.83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🟠 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$15.4M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Zhejiang Huahai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China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47.90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🟠 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$18.6M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74320" y="4892040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Pavithra V  |  Supplier Dependency Risk Scorer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Integration — Dashboard Design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8686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4 Excel Sheets → Power BI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98448"/>
            <a:ext cx="41148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298448"/>
            <a:ext cx="4114800" cy="6400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0817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85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Full_Supply_Chain_Data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17007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table — all supplier-material records for drill-through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103120"/>
            <a:ext cx="41148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103120"/>
            <a:ext cx="4114800" cy="6400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21284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85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Risk_Scores_Summary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1480" y="25054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 — composite scores and tiers per supplier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907792"/>
            <a:ext cx="41148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907792"/>
            <a:ext cx="4114800" cy="6400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0175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85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Country_Risk_Rollup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11480" y="33101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visual — geographic spend &amp; risk concentration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3712464"/>
            <a:ext cx="41148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712464"/>
            <a:ext cx="4114800" cy="6400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8221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85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Material_Risk_View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1148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— sole-source materials ranked by risk score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54880" y="8686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Suggested Power BI Visuals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54880" y="1298448"/>
            <a:ext cx="411480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28032" y="135331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🃏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321808" y="134416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321808" y="157276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Risk Score, Critical Count, Total Spend at Risk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54880" y="1956816"/>
            <a:ext cx="4114800" cy="530352"/>
          </a:xfrm>
          <a:prstGeom prst="rect">
            <a:avLst/>
          </a:prstGeom>
          <a:solidFill>
            <a:srgbClr val="F4F6F9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28032" y="201168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321808" y="200253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Map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321808" y="223113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risk heatmap by avg composite score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54880" y="2615184"/>
            <a:ext cx="411480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28032" y="267004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321808" y="266090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321808" y="288950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risk scores ranked with tier colour coding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54880" y="3273552"/>
            <a:ext cx="4114800" cy="530352"/>
          </a:xfrm>
          <a:prstGeom prst="rect">
            <a:avLst/>
          </a:prstGeom>
          <a:solidFill>
            <a:srgbClr val="F4F6F9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28032" y="3328416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⚫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321808" y="331927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321808" y="354787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spend vs risk score — high-risk quadrant view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54880" y="3931920"/>
            <a:ext cx="411480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28032" y="3986784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🍩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321808" y="397764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Chart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321808" y="420624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tier distribution: Critical/High/Medium/Low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754880" y="4626864"/>
            <a:ext cx="4114800" cy="29260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46320" y="46360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DAX: Avg Risk Score = AVERAGE(Risk_Scores_Summary[composite_score])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4892040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Pavithra V  |  Supplier Dependency Risk Scorer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Extensions — How This Scales to Production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896112"/>
            <a:ext cx="2706624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896112"/>
            <a:ext cx="2706624" cy="64008"/>
          </a:xfrm>
          <a:prstGeom prst="rect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033272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96112" y="1060704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ERP Integration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47472" y="1517904"/>
            <a:ext cx="252374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directly to SAP, Oracle, or eChain ChainSys via API/ODBC for real-time supplier data.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63824" y="896112"/>
            <a:ext cx="2706624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63824" y="896112"/>
            <a:ext cx="2706624" cy="6400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55264" y="1033272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803904" y="1060704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Outbreak Signal Integration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55264" y="1517904"/>
            <a:ext cx="252374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WHO/CDC disease outbreak feeds as a dynamic geopolitical risk input — auto-updating scores.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71616" y="896112"/>
            <a:ext cx="2706624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71616" y="896112"/>
            <a:ext cx="2706624" cy="64008"/>
          </a:xfrm>
          <a:prstGeom prst="rect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63056" y="1033272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711696" y="1060704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 / ML Forecasting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163056" y="1517904"/>
            <a:ext cx="252374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time-series forecasting to predict lead time deterioration before it becomes a disruption.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6032" y="2816352"/>
            <a:ext cx="2706624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6032" y="2816352"/>
            <a:ext cx="2706624" cy="6400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2953512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96112" y="2980944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Alert System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47472" y="3438144"/>
            <a:ext cx="252374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email/Slack alerts when any supplier crosses a risk threshold — act in hours not weeks.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163824" y="2816352"/>
            <a:ext cx="2706624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63824" y="2816352"/>
            <a:ext cx="2706624" cy="64008"/>
          </a:xfrm>
          <a:prstGeom prst="rect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55264" y="2953512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803904" y="2980944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Embedded Web App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255264" y="3438144"/>
            <a:ext cx="252374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as a self-service Power BI embedded web app — no desktop client needed by stakeholders.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71616" y="2816352"/>
            <a:ext cx="2706624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71616" y="2816352"/>
            <a:ext cx="2706624" cy="6400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63056" y="2953512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711696" y="2980944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Compliance Scheduler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163056" y="3438144"/>
            <a:ext cx="252374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Auto-flag overdue supplier audits by integrating with SharePoint or Teams calendar workflows.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892040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Pavithra V  |  Supplier Dependency Risk Scorer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4114800"/>
            <a:ext cx="457200" cy="457200"/>
          </a:xfrm>
          <a:prstGeom prst="ellipse">
            <a:avLst/>
          </a:prstGeom>
          <a:solidFill>
            <a:srgbClr val="0D1B4B">
              <a:alpha val="60000"/>
            </a:srgbClr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4480560"/>
            <a:ext cx="292608" cy="292608"/>
          </a:xfrm>
          <a:prstGeom prst="ellipse">
            <a:avLst/>
          </a:prstGeom>
          <a:solidFill>
            <a:srgbClr val="0D1B4B">
              <a:alpha val="60000"/>
            </a:srgbClr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0" y="4251960"/>
            <a:ext cx="365760" cy="365760"/>
          </a:xfrm>
          <a:prstGeom prst="ellipse">
            <a:avLst/>
          </a:prstGeom>
          <a:solidFill>
            <a:srgbClr val="0D1B4B">
              <a:alpha val="60000"/>
            </a:srgbClr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0" y="4572000"/>
            <a:ext cx="237744" cy="237744"/>
          </a:xfrm>
          <a:prstGeom prst="ellipse">
            <a:avLst/>
          </a:prstGeom>
          <a:solidFill>
            <a:srgbClr val="0D1B4B">
              <a:alpha val="60000"/>
            </a:srgbClr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" y="11887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91440" y="20116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You! 🙏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3749040" y="475488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Pavithra V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749040" y="1078992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&amp; Software Engineer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749040" y="1536192"/>
            <a:ext cx="5120640" cy="36576"/>
          </a:xfrm>
          <a:prstGeom prst="rect">
            <a:avLst/>
          </a:prstGeom>
          <a:solidFill>
            <a:srgbClr val="00857C"/>
          </a:solidFill>
          <a:ln w="12700">
            <a:solidFill>
              <a:srgbClr val="0085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49040" y="1700784"/>
            <a:ext cx="51206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pavisumi1408@gmail.com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linkedin.com/in/pavithra-v-56bb87280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github.com/pavi14-06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pavithra-v-portfolio.netlify.app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Chennai, India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749040" y="3529584"/>
            <a:ext cx="5120640" cy="1371600"/>
          </a:xfrm>
          <a:prstGeom prst="rect">
            <a:avLst/>
          </a:prstGeom>
          <a:solidFill>
            <a:srgbClr val="0A1540"/>
          </a:solidFill>
          <a:ln w="12700">
            <a:solidFill>
              <a:srgbClr val="00857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58768" y="3602736"/>
            <a:ext cx="4901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Snapshot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858768" y="3931920"/>
            <a:ext cx="4901184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Dependency Risk Scorer
</a:t>
            </a:r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SQL  ·  Power BI
</a:t>
            </a:r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Suppliers  ·  7 Countries  ·  46 Records
</a:t>
            </a:r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7-Factor Risk Model  ·  6 SQL Queries  ·  4 Power BI Sheets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Supplier Dependency Risk Scorer</dc:title>
  <dc:subject>Pharma Supply Chain Intelligence</dc:subject>
  <dc:creator>Pavithra V</dc:creator>
  <cp:lastModifiedBy>Pavithra V</cp:lastModifiedBy>
  <cp:revision>1</cp:revision>
  <dcterms:created xsi:type="dcterms:W3CDTF">2026-03-09T13:49:56Z</dcterms:created>
  <dcterms:modified xsi:type="dcterms:W3CDTF">2026-03-09T13:49:56Z</dcterms:modified>
</cp:coreProperties>
</file>